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sz="1000" b="0" i="0">
                <a:solidFill>
                  <a:srgbClr val="4A7BA7"/>
                </a:solidFill>
              </a:rPr>
              <a:t>Problem Statement ID</a:t>
            </a:r>
            <a:endParaRPr lang="en-US" dirty="0"/>
          </a:p>
          <a:p>
            <a:pPr marL="0" indent="0" algn="l">
              <a:buNone/>
            </a:pPr>
            <a:r>
              <a:rPr sz="1700" b="1" i="0">
                <a:solidFill>
                  <a:srgbClr val="1F3864"/>
                </a:solidFill>
              </a:rPr>
              <a:t>SIH2026027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sz="1000" b="0" i="0">
                <a:solidFill>
                  <a:srgbClr val="4A7BA7"/>
                </a:solidFill>
              </a:rPr>
              <a:t>Problem Statement Title</a:t>
            </a:r>
          </a:p>
          <a:p>
            <a:pPr marL="0" indent="0" algn="l">
              <a:buNone/>
            </a:pPr>
            <a:r>
              <a:rPr sz="1400" b="1" i="0">
                <a:solidFill>
                  <a:srgbClr val="1F3864"/>
                </a:solidFill>
              </a:rPr>
              <a:t>Automatic Block Planning for Indian Railways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sz="1100" b="0" i="0">
                <a:solidFill>
                  <a:srgbClr val="3A3A3A"/>
                </a:solidFill>
              </a:rPr>
              <a:t>Theme  •  Smart Automation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100" b="0" i="0">
                <a:solidFill>
                  <a:srgbClr val="3A3A3A"/>
                </a:solidFill>
              </a:rPr>
              <a:t>Category  •  Software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100" b="0" i="0">
                <a:solidFill>
                  <a:srgbClr val="3A3A3A"/>
                </a:solidFill>
              </a:rPr>
              <a:t>Team ID  •  (assigned on SIH portal)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sz="1200" b="1" i="0">
                <a:solidFill>
                  <a:srgbClr val="1F3864"/>
                </a:solidFill>
              </a:rPr>
              <a:t>Team Name  •  Anomaly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000" b="0" i="0">
                <a:solidFill>
                  <a:srgbClr val="4A7BA7"/>
                </a:solidFill>
              </a:rPr>
              <a:t>Galgotias University, Uttar Pradesh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none"/>
          <a:lstStyle/>
          <a:p>
            <a:pPr eaLnBrk="1" hangingPunct="1"/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84048" y="1024128"/>
            <a:ext cx="50749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sz="1300" b="1" i="0">
                <a:solidFill>
                  <a:srgbClr val="1F3864"/>
                </a:solidFill>
              </a:rPr>
              <a:t>THE PROBLEM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Engineering, Signalling and Traction each book track blocks in isolation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Blocks clash → windows wasted, maintenance deferred, trains delayed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OUR SOLUTION — RAILBLOCK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One engine ingests all three departments' demands plus the timetable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Returns a conflict-free block plan, weekly and monthly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WHY IT IS DIFFERENT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1" i="0">
                <a:solidFill>
                  <a:srgbClr val="1E8449"/>
                </a:solidFill>
              </a:rPr>
              <a:t>•  Proven, not predicted — CP-SAT certifies the plan is optimal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When demands cannot all fit, it names the exact conflicting requests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Priority slider re-solves the whole corridor in under 2 seconds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No training data, no model drift, every decision traceable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200"/>
              <a:t>Anomaly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806440" y="1005840"/>
            <a:ext cx="5989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850" b="1" i="0">
                <a:solidFill>
                  <a:srgbClr val="4A7BA7"/>
                </a:solidFill>
              </a:rPr>
              <a:t>MAINTENANCE DEMANDS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806440" y="1243584"/>
            <a:ext cx="1847088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2E6DA4"/>
                </a:solidFill>
              </a:rPr>
              <a:t>ENGINEERING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track · civil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872983" y="1243584"/>
            <a:ext cx="1847088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1E8449"/>
                </a:solidFill>
              </a:rPr>
              <a:t>SIGNALLING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interlocking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9939528" y="1243584"/>
            <a:ext cx="1847088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CA8A04"/>
                </a:solidFill>
              </a:rPr>
              <a:t>TRACTION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OHE · power</a:t>
            </a:r>
          </a:p>
        </p:txBody>
      </p:sp>
      <p:sp>
        <p:nvSpPr>
          <p:cNvPr id="15367" name="Down Arrow 15366"/>
          <p:cNvSpPr/>
          <p:nvPr/>
        </p:nvSpPr>
        <p:spPr>
          <a:xfrm>
            <a:off x="6629399" y="1865376"/>
            <a:ext cx="201168" cy="256032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Down Arrow 15367"/>
          <p:cNvSpPr/>
          <p:nvPr/>
        </p:nvSpPr>
        <p:spPr>
          <a:xfrm>
            <a:off x="8695944" y="1865376"/>
            <a:ext cx="201168" cy="256032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Down Arrow 15368"/>
          <p:cNvSpPr/>
          <p:nvPr/>
        </p:nvSpPr>
        <p:spPr>
          <a:xfrm>
            <a:off x="10762488" y="1865376"/>
            <a:ext cx="201168" cy="256032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5806440" y="2176272"/>
            <a:ext cx="5989320" cy="4572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4A7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1F3864"/>
                </a:solidFill>
              </a:rPr>
              <a:t>TIMETABLE WINDOWS  +  CORRIDOR CONSTRAINTS</a:t>
            </a:r>
          </a:p>
        </p:txBody>
      </p:sp>
      <p:sp>
        <p:nvSpPr>
          <p:cNvPr id="15371" name="Down Arrow 15370"/>
          <p:cNvSpPr/>
          <p:nvPr/>
        </p:nvSpPr>
        <p:spPr>
          <a:xfrm>
            <a:off x="8682228" y="2688336"/>
            <a:ext cx="237744" cy="274320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5806440" y="3017520"/>
            <a:ext cx="5989320" cy="74980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50" b="1" i="0">
                <a:solidFill>
                  <a:srgbClr val="FFFFFF"/>
                </a:solidFill>
              </a:rPr>
              <a:t>CP-SAT CONSTRAINT SOLVER</a:t>
            </a:r>
          </a:p>
          <a:p>
            <a:pPr marL="0" indent="0" algn="ctr">
              <a:buNone/>
            </a:pPr>
            <a:r>
              <a:rPr sz="850" b="0" i="0">
                <a:solidFill>
                  <a:srgbClr val="C8D4E8"/>
                </a:solidFill>
              </a:rPr>
              <a:t>Google OR-Tools  ·  proves optimality  ·  no training data</a:t>
            </a:r>
          </a:p>
        </p:txBody>
      </p:sp>
      <p:sp>
        <p:nvSpPr>
          <p:cNvPr id="15373" name="Down Arrow 15372"/>
          <p:cNvSpPr/>
          <p:nvPr/>
        </p:nvSpPr>
        <p:spPr>
          <a:xfrm>
            <a:off x="7203186" y="3822191"/>
            <a:ext cx="201168" cy="256032"/>
          </a:xfrm>
          <a:prstGeom prst="downArrow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Down Arrow 15373"/>
          <p:cNvSpPr/>
          <p:nvPr/>
        </p:nvSpPr>
        <p:spPr>
          <a:xfrm>
            <a:off x="10197846" y="3822191"/>
            <a:ext cx="201168" cy="256032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5806440" y="4151376"/>
            <a:ext cx="2866644" cy="786384"/>
          </a:xfrm>
          <a:prstGeom prst="roundRect">
            <a:avLst/>
          </a:prstGeom>
          <a:solidFill>
            <a:srgbClr val="E8F5EC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000" b="1" i="0">
                <a:solidFill>
                  <a:srgbClr val="1E8449"/>
                </a:solidFill>
              </a:rPr>
              <a:t>OPTIMAL SCHEDULE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3A3A3A"/>
                </a:solidFill>
              </a:rPr>
              <a:t>Conflict-free Gantt for all
three departments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8929115" y="4151376"/>
            <a:ext cx="2866644" cy="786384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000" b="1" i="0">
                <a:solidFill>
                  <a:srgbClr val="C0392B"/>
                </a:solidFill>
              </a:rPr>
              <a:t>MINIMAL CONFLICT SET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3A3A3A"/>
                </a:solidFill>
              </a:rPr>
              <a:t>“Requests 4, 7 and 11 cannot
coexist — drop one to proceed”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5806440" y="5065776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4A7BA7"/>
                </a:solidFill>
              </a:rPr>
              <a:t>Either answer is a proof — never a guess.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eaLnBrk="1" hangingPunct="1"/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024128"/>
            <a:ext cx="50749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sz="1300" b="1" i="0">
                <a:solidFill>
                  <a:srgbClr val="1F3864"/>
                </a:solidFill>
              </a:rPr>
              <a:t>TECHNOLOGY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Solver — Google OR-Tools CP-SAT (open source)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Backend — Python 3, FastAPI REST service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Frontend — React.js with Plotly interactive Gantt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Data — parameterised corridor scenario generator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1" i="0">
                <a:solidFill>
                  <a:srgbClr val="1E8449"/>
                </a:solidFill>
              </a:rPr>
              <a:t>•  Runs fully offline on one laptop — no GPU, no cloud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CONSTRAINTS MODELLED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Section exclusivity — one occupant per track section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Timetable compliance — blocks fit approved windows only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Duration bounds and inter-block corridor sequencing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Crew availability per department per day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Urgency-weighted objective — tunable at run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200"/>
              <a:t>Anomaly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309359" y="118872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12" name="TextBox 17411"/>
          <p:cNvSpPr txBox="1"/>
          <p:nvPr/>
        </p:nvSpPr>
        <p:spPr>
          <a:xfrm>
            <a:off x="6464807" y="12893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1050" b="1" i="0">
                <a:solidFill>
                  <a:srgbClr val="1F3864"/>
                </a:solidFill>
              </a:rPr>
              <a:t>INPUT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64807" y="1527048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0" i="0">
                <a:solidFill>
                  <a:srgbClr val="3A3A3A"/>
                </a:solidFill>
              </a:rPr>
              <a:t>Maintenance requests, timetable windows, corridor map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806440" y="1371600"/>
            <a:ext cx="347472" cy="347472"/>
          </a:xfrm>
          <a:prstGeom prst="ellipse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415" name="Down Arrow 17414"/>
          <p:cNvSpPr/>
          <p:nvPr/>
        </p:nvSpPr>
        <p:spPr>
          <a:xfrm>
            <a:off x="8970263" y="1929384"/>
            <a:ext cx="164592" cy="182880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309359" y="2139696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17" name="TextBox 17416"/>
          <p:cNvSpPr txBox="1"/>
          <p:nvPr/>
        </p:nvSpPr>
        <p:spPr>
          <a:xfrm>
            <a:off x="6464807" y="224027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1050" b="1" i="0">
                <a:solidFill>
                  <a:srgbClr val="1F3864"/>
                </a:solidFill>
              </a:rPr>
              <a:t>MODEL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64807" y="2478024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0" i="0">
                <a:solidFill>
                  <a:srgbClr val="3A3A3A"/>
                </a:solidFill>
              </a:rPr>
              <a:t>Encode sections, windows and priorities as CP-SAT constraints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5806440" y="2322576"/>
            <a:ext cx="347472" cy="347472"/>
          </a:xfrm>
          <a:prstGeom prst="ellipse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420" name="Down Arrow 17419"/>
          <p:cNvSpPr/>
          <p:nvPr/>
        </p:nvSpPr>
        <p:spPr>
          <a:xfrm>
            <a:off x="8970263" y="2880360"/>
            <a:ext cx="164592" cy="182880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309359" y="3090672"/>
            <a:ext cx="5486400" cy="713232"/>
          </a:xfrm>
          <a:prstGeom prst="roundRect">
            <a:avLst/>
          </a:prstGeom>
          <a:solidFill>
            <a:srgbClr val="1F3864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22" name="TextBox 17421"/>
          <p:cNvSpPr txBox="1"/>
          <p:nvPr/>
        </p:nvSpPr>
        <p:spPr>
          <a:xfrm>
            <a:off x="6464807" y="31912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1050" b="1" i="0">
                <a:solidFill>
                  <a:srgbClr val="FFFFFF"/>
                </a:solidFill>
              </a:rPr>
              <a:t>SOLVE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64807" y="342900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0" i="0">
                <a:solidFill>
                  <a:srgbClr val="C8D4E8"/>
                </a:solidFill>
              </a:rPr>
              <a:t>Prove the optimal assignment — or return the conflict set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5806440" y="3273552"/>
            <a:ext cx="347472" cy="34747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8970263" y="3831336"/>
            <a:ext cx="164592" cy="182880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309359" y="4041648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27" name="TextBox 17426"/>
          <p:cNvSpPr txBox="1"/>
          <p:nvPr/>
        </p:nvSpPr>
        <p:spPr>
          <a:xfrm>
            <a:off x="6464807" y="4142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1050" b="1" i="0">
                <a:solidFill>
                  <a:srgbClr val="1F3864"/>
                </a:solidFill>
              </a:rPr>
              <a:t>VISUALISE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64807" y="4379976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0" i="0">
                <a:solidFill>
                  <a:srgbClr val="3A3A3A"/>
                </a:solidFill>
              </a:rPr>
              <a:t>Colour-coded Gantt, live priority slider, conflict panel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5806440" y="4224527"/>
            <a:ext cx="347472" cy="347472"/>
          </a:xfrm>
          <a:prstGeom prst="ellipse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430" name="Down Arrow 17429"/>
          <p:cNvSpPr/>
          <p:nvPr/>
        </p:nvSpPr>
        <p:spPr>
          <a:xfrm>
            <a:off x="8970263" y="4782312"/>
            <a:ext cx="164592" cy="182880"/>
          </a:xfrm>
          <a:prstGeom prst="down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6309359" y="4992624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B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32" name="TextBox 17431"/>
          <p:cNvSpPr txBox="1"/>
          <p:nvPr/>
        </p:nvSpPr>
        <p:spPr>
          <a:xfrm>
            <a:off x="6464807" y="509320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1050" b="1" i="0">
                <a:solidFill>
                  <a:srgbClr val="1F3864"/>
                </a:solidFill>
              </a:rPr>
              <a:t>EXPORT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464807" y="533095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0" i="0">
                <a:solidFill>
                  <a:srgbClr val="3A3A3A"/>
                </a:solidFill>
              </a:rPr>
              <a:t>Weekly and monthly block orders for all three departments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5806440" y="5175503"/>
            <a:ext cx="347472" cy="347472"/>
          </a:xfrm>
          <a:prstGeom prst="ellipse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eaLnBrk="1" hangingPunct="1"/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024128"/>
            <a:ext cx="50749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 i="0">
                <a:solidFill>
                  <a:srgbClr val="1F3864"/>
                </a:solidFill>
              </a:rPr>
              <a:t>WHY IT IS BUILDABLE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OR-Tools installs with one pip command — no GPU, no licence fee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The core solver is roughly 150 lines of Python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Standard Python + React stack — nothing new to learn mid-build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1" i="0">
                <a:solidFill>
                  <a:srgbClr val="1E8449"/>
                </a:solidFill>
              </a:rPr>
              <a:t>•  The statement lists its own inputs, so there is no data barrier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HOW WE DE-RISK IT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Week 1 gate: a 50-line CP-SAT model must solve a toy corridor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Demo one small division and one full corridor to prove scaling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Partial schedules still render — no all-or-nothing failure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Six members on parallel tracks: solver, UI, scenarios, domain, pitch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200"/>
              <a:t>Anomaly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806440" y="1170432"/>
            <a:ext cx="26353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C0392B"/>
                </a:solidFill>
              </a:rPr>
              <a:t>RISK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9026956" y="1170432"/>
            <a:ext cx="2768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1E8449"/>
                </a:solidFill>
              </a:rPr>
              <a:t>MITIGATION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806440" y="1481328"/>
            <a:ext cx="2635300" cy="1042415"/>
          </a:xfrm>
          <a:prstGeom prst="roundRect">
            <a:avLst/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No access to live TMS / BDMS / SMMS systems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8524036" y="1883664"/>
            <a:ext cx="420624" cy="237744"/>
          </a:xfrm>
          <a:prstGeom prst="right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9026956" y="1481328"/>
            <a:ext cx="2768803" cy="1042415"/>
          </a:xfrm>
          <a:prstGeom prst="roundRect">
            <a:avLst/>
          </a:prstGeom>
          <a:solidFill>
            <a:srgbClr val="E8F5EC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Adapter layer documented; parameterised scenarios are accepted method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806440" y="2834640"/>
            <a:ext cx="2635300" cy="1042415"/>
          </a:xfrm>
          <a:prstGeom prst="roundRect">
            <a:avLst/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Railway block-working rules are unfamiliar territory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8524036" y="3236976"/>
            <a:ext cx="420624" cy="237744"/>
          </a:xfrm>
          <a:prstGeom prst="right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9026956" y="2834640"/>
            <a:ext cx="2768803" cy="1042415"/>
          </a:xfrm>
          <a:prstGeom prst="roundRect">
            <a:avLst/>
          </a:prstGeom>
          <a:solidFill>
            <a:srgbClr val="E8F5EC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One member owns the rulebook from week 1 and validates every constraint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806440" y="4187952"/>
            <a:ext cx="2635300" cy="1042415"/>
          </a:xfrm>
          <a:prstGeom prst="roundRect">
            <a:avLst/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Only 36 hours to build at the finale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8524036" y="4590288"/>
            <a:ext cx="420624" cy="237744"/>
          </a:xfrm>
          <a:prstGeom prst="rightArrow">
            <a:avLst/>
          </a:prstGeom>
          <a:solidFill>
            <a:srgbClr val="4A7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026956" y="4187952"/>
            <a:ext cx="2768803" cy="1042415"/>
          </a:xfrm>
          <a:prstGeom prst="roundRect">
            <a:avLst/>
          </a:prstGeom>
          <a:solidFill>
            <a:srgbClr val="E8F5EC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 marL="0" indent="0">
              <a:buNone/>
            </a:pPr>
            <a:r>
              <a:rPr sz="950" b="0" i="0">
                <a:solidFill>
                  <a:srgbClr val="3A3A3A"/>
                </a:solidFill>
              </a:rPr>
              <a:t>Solver proven before the event; six members run independent workstreams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eaLnBrk="1" hangingPunct="1"/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024128"/>
            <a:ext cx="50749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 i="0">
                <a:solidFill>
                  <a:srgbClr val="1F3864"/>
                </a:solidFill>
              </a:rPr>
              <a:t>OPERATIONAL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Clashes are resolved weeks ahead instead of on the morning itself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Every approved maintenance window gets filled, none wasted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Fewer train delays caused by blocks that overrun or collide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Each decision traces back to a named constraint — fully auditable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REACH AND SUSTAINABILITY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Scales from one division to all 68 with no change to the code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Feeds the existing eBlock workflow — no retraining for field staff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1" i="0">
                <a:solidFill>
                  <a:srgbClr val="1E8449"/>
                </a:solidFill>
              </a:rPr>
              <a:t>•  Zero licensing cost — the entire stack is open source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Better-planned maintenance means healthier track and safer running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200"/>
              <a:t>Anomaly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806440" y="1042416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950" b="1" i="0">
                <a:solidFill>
                  <a:srgbClr val="C0392B"/>
                </a:solidFill>
              </a:rPr>
              <a:t>TODAY  —  each department plans on its own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806440" y="1298448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ENG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6373368" y="1298448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14" name="Rectangle 17413"/>
          <p:cNvSpPr/>
          <p:nvPr/>
        </p:nvSpPr>
        <p:spPr>
          <a:xfrm>
            <a:off x="5806440" y="1691640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SIG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373368" y="1691640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16" name="Rectangle 17415"/>
          <p:cNvSpPr/>
          <p:nvPr/>
        </p:nvSpPr>
        <p:spPr>
          <a:xfrm>
            <a:off x="5806440" y="2084832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TRD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373368" y="2084832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18" name="Rounded Rectangle 17417"/>
          <p:cNvSpPr/>
          <p:nvPr/>
        </p:nvSpPr>
        <p:spPr>
          <a:xfrm>
            <a:off x="6510528" y="1344168"/>
            <a:ext cx="1417320" cy="21945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9162288" y="1344168"/>
            <a:ext cx="1188720" cy="21945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470648" y="1737360"/>
            <a:ext cx="1280160" cy="219456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528048" y="2130552"/>
            <a:ext cx="1371600" cy="219456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7470648" y="1271016"/>
            <a:ext cx="457200" cy="1152144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23" name="Rectangle 17422"/>
          <p:cNvSpPr/>
          <p:nvPr/>
        </p:nvSpPr>
        <p:spPr>
          <a:xfrm>
            <a:off x="9528048" y="1271016"/>
            <a:ext cx="822960" cy="1152144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24" name="TextBox 17423"/>
          <p:cNvSpPr txBox="1"/>
          <p:nvPr/>
        </p:nvSpPr>
        <p:spPr>
          <a:xfrm>
            <a:off x="5806440" y="2459736"/>
            <a:ext cx="5989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1" i="0">
                <a:solidFill>
                  <a:srgbClr val="C0392B"/>
                </a:solidFill>
              </a:rPr>
              <a:t>✖   blocks collide — one gets cancelled on the day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806440" y="2935224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950" b="1" i="0">
                <a:solidFill>
                  <a:srgbClr val="1E8449"/>
                </a:solidFill>
              </a:rPr>
              <a:t>WITH RAILBLOCK  —  one optimised plan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806440" y="3191256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ENG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6373368" y="3191256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28" name="Rectangle 17427"/>
          <p:cNvSpPr/>
          <p:nvPr/>
        </p:nvSpPr>
        <p:spPr>
          <a:xfrm>
            <a:off x="5806440" y="3584448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SIG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6373368" y="3584448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30" name="Rectangle 17429"/>
          <p:cNvSpPr/>
          <p:nvPr/>
        </p:nvSpPr>
        <p:spPr>
          <a:xfrm>
            <a:off x="5806440" y="3977640"/>
            <a:ext cx="475488" cy="31089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800" b="1" i="0">
                <a:solidFill>
                  <a:srgbClr val="3A3A3A"/>
                </a:solidFill>
              </a:rPr>
              <a:t>TRD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6373368" y="3977640"/>
            <a:ext cx="5422392" cy="310896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</a:p>
        </p:txBody>
      </p:sp>
      <p:sp>
        <p:nvSpPr>
          <p:cNvPr id="17432" name="Rounded Rectangle 17431"/>
          <p:cNvSpPr/>
          <p:nvPr/>
        </p:nvSpPr>
        <p:spPr>
          <a:xfrm>
            <a:off x="6464807" y="3236976"/>
            <a:ext cx="1325880" cy="21945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10076688" y="3236976"/>
            <a:ext cx="1188720" cy="219456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7854696" y="3630168"/>
            <a:ext cx="1143000" cy="219456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9061704" y="4023360"/>
            <a:ext cx="960120" cy="219456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806440" y="4352544"/>
            <a:ext cx="5989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l">
              <a:buNone/>
            </a:pPr>
            <a:r>
              <a:rPr sz="850" b="1" i="0">
                <a:solidFill>
                  <a:srgbClr val="1E8449"/>
                </a:solidFill>
              </a:rPr>
              <a:t>✓   zero conflicts  ·  every window used  ·  proven optimal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806440" y="4828032"/>
            <a:ext cx="1387602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</a:rPr>
              <a:t>13 M+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C8D4E8"/>
                </a:solidFill>
              </a:rPr>
              <a:t>passengers a day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340346" y="4828032"/>
            <a:ext cx="1387602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</a:rPr>
              <a:t>68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C8D4E8"/>
                </a:solidFill>
              </a:rPr>
              <a:t>divisions reachable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874252" y="4828032"/>
            <a:ext cx="1387602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C8D4E8"/>
                </a:solidFill>
              </a:rPr>
              <a:t>departments unified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10408158" y="4828032"/>
            <a:ext cx="1387602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</a:rPr>
              <a:t>&lt; 2 s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C8D4E8"/>
                </a:solidFill>
              </a:rPr>
              <a:t>to re-solve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eaLnBrk="1" hangingPunct="1"/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024128"/>
            <a:ext cx="50749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1" i="0">
                <a:solidFill>
                  <a:srgbClr val="1F3864"/>
                </a:solidFill>
              </a:rPr>
              <a:t>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Indian Railways — Block Working Rules and departmental circulars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Ministry of Railways — eBlock system documentation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NTES — National Train Enquiry System timetable data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TECHNICAL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Google OR-Tools CP-SAT — developers.google.com/optimization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Caprara, Fischetti &amp; Toth, “Modeling and Solving the Train Timetabling Problem”, Operations Research 50(5), 2002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0" i="0">
                <a:solidFill>
                  <a:srgbClr val="3A3A3A"/>
                </a:solidFill>
              </a:rPr>
              <a:t>•  Perron &amp; Furnon, OR-Tools, Google LLC, 2023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sz="1300" b="1" i="0">
                <a:solidFill>
                  <a:srgbClr val="1F3864"/>
                </a:solidFill>
              </a:rPr>
              <a:t>PRECEDENT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200" b="1" i="0">
                <a:solidFill>
                  <a:srgbClr val="1E8449"/>
                </a:solidFill>
              </a:rPr>
              <a:t>•  SIH 2025 — AI-Driven Train Induction Planning for KMRL: the same class of railway scheduling problem, solved with optimisation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200"/>
              <a:t>Anomaly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806440" y="1408176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4A7BA7"/>
                </a:solidFill>
              </a:rPr>
              <a:t>SYSTEM AT A GLANCE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7932420" y="2615184"/>
            <a:ext cx="1737360" cy="8778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</a:rPr>
              <a:t>CP-SAT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C8D4E8"/>
                </a:solidFill>
              </a:rPr>
              <a:t>constraint solver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652260" y="1819656"/>
            <a:ext cx="17373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2E6DA4"/>
                </a:solidFill>
              </a:rPr>
              <a:t>DEMANDS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3 departments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212580" y="1819656"/>
            <a:ext cx="17373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1E8449"/>
                </a:solidFill>
              </a:rPr>
              <a:t>TIMETABLE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approved windows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652260" y="3557016"/>
            <a:ext cx="17373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1E8449"/>
                </a:solidFill>
              </a:rPr>
              <a:t>GANTT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optimal plan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212580" y="3557016"/>
            <a:ext cx="17373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 marL="0" indent="0">
              <a:buNone/>
            </a:pPr>
            <a:r>
              <a:rPr sz="950" b="1" i="0">
                <a:solidFill>
                  <a:srgbClr val="C0392B"/>
                </a:solidFill>
              </a:rPr>
              <a:t>CONFLICTS</a:t>
            </a:r>
          </a:p>
          <a:p>
            <a:pPr marL="0" indent="0" algn="ctr">
              <a:buNone/>
            </a:pPr>
            <a:r>
              <a:rPr sz="750" b="0" i="0">
                <a:solidFill>
                  <a:srgbClr val="4A7BA7"/>
                </a:solidFill>
              </a:rPr>
              <a:t>minimal set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806440" y="4425696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4A7BA7"/>
                </a:solidFill>
              </a:rPr>
              <a:t>Four inputs, one solver, two possible answers — a proven schedule or the exact reason one is impossible.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